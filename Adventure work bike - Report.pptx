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YOY Revenue Growth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donutChart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5 Customers By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Vs Target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Order Qty Vs Target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ScrollingTextVisual1448795304508</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Monthly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Monthly Return Qty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Vs. Target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Order Qty Vs. Target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Order Qty Vs. Target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Bottom 5 Customer by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5 Customer by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Sum of OrderQuantity by Subcategory</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keyDriversVisual</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keyDriversVisual</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decompositionTreeVisual</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Revenue by Category for 2017</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fcaf1dad-66b8-443b-ac51-5b34f2a2a9dc?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f5582c19d1184688" /><Relationship Type="http://schemas.openxmlformats.org/officeDocument/2006/relationships/slideLayout" Target="/ppt/slideLayouts/slideLayout8.xml" Id="Rffd4e3637bef46e3" /><Relationship Type="http://schemas.openxmlformats.org/officeDocument/2006/relationships/hyperlink" Target="https://app.powerbi.com/groups/me/reports/fcaf1dad-66b8-443b-ac51-5b34f2a2a9dc/?pbi_source=PowerPoint" TargetMode="External" Id="RelId0" /><Relationship Type="http://schemas.openxmlformats.org/officeDocument/2006/relationships/image" Target="/ppt/media/image4.png" Id="imgId128168092"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087aef22ef084a43" /><Relationship Type="http://schemas.openxmlformats.org/officeDocument/2006/relationships/slideLayout" Target="/ppt/slideLayouts/slideLayout8.xml" Id="R7ec356771a0e4c4b" /><Relationship Type="http://schemas.openxmlformats.org/officeDocument/2006/relationships/hyperlink" Target="https://app.powerbi.com/groups/me/reports/fcaf1dad-66b8-443b-ac51-5b34f2a2a9dc/?pbi_source=PowerPoint" TargetMode="External" Id="RelId1" /><Relationship Type="http://schemas.openxmlformats.org/officeDocument/2006/relationships/image" Target="/ppt/media/image5.png" Id="imgId128168093"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69394001a7fb4c65" /><Relationship Type="http://schemas.openxmlformats.org/officeDocument/2006/relationships/slideLayout" Target="/ppt/slideLayouts/slideLayout8.xml" Id="Rfa1a77bd727c40a4" /><Relationship Type="http://schemas.openxmlformats.org/officeDocument/2006/relationships/hyperlink" Target="https://app.powerbi.com/groups/me/reports/fcaf1dad-66b8-443b-ac51-5b34f2a2a9dc/?pbi_source=PowerPoint" TargetMode="External" Id="RelId2" /><Relationship Type="http://schemas.openxmlformats.org/officeDocument/2006/relationships/image" Target="/ppt/media/image6.png" Id="imgId128168094"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07d1e09e145f4049" /><Relationship Type="http://schemas.openxmlformats.org/officeDocument/2006/relationships/slideLayout" Target="/ppt/slideLayouts/slideLayout8.xml" Id="Rc16e9d90b572484e" /><Relationship Type="http://schemas.openxmlformats.org/officeDocument/2006/relationships/hyperlink" Target="https://app.powerbi.com/groups/me/reports/fcaf1dad-66b8-443b-ac51-5b34f2a2a9dc/?pbi_source=PowerPoint" TargetMode="External" Id="RelId3" /><Relationship Type="http://schemas.openxmlformats.org/officeDocument/2006/relationships/image" Target="/ppt/media/image7.png" Id="imgId128168095"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f6ac3a66219b47ee" /><Relationship Type="http://schemas.openxmlformats.org/officeDocument/2006/relationships/slideLayout" Target="/ppt/slideLayouts/slideLayout8.xml" Id="Rb03ffbbab2114815" /><Relationship Type="http://schemas.openxmlformats.org/officeDocument/2006/relationships/hyperlink" Target="https://app.powerbi.com/groups/me/reports/fcaf1dad-66b8-443b-ac51-5b34f2a2a9dc/?pbi_source=PowerPoint" TargetMode="External" Id="RelId4" /><Relationship Type="http://schemas.openxmlformats.org/officeDocument/2006/relationships/image" Target="/ppt/media/image8.png" Id="imgId128168096"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37252254d245472b" /><Relationship Type="http://schemas.openxmlformats.org/officeDocument/2006/relationships/slideLayout" Target="/ppt/slideLayouts/slideLayout8.xml" Id="R4effb61218e14c33" /><Relationship Type="http://schemas.openxmlformats.org/officeDocument/2006/relationships/hyperlink" Target="https://app.powerbi.com/groups/me/reports/fcaf1dad-66b8-443b-ac51-5b34f2a2a9dc/?pbi_source=PowerPoint" TargetMode="External" Id="RelId5" /><Relationship Type="http://schemas.openxmlformats.org/officeDocument/2006/relationships/image" Target="/ppt/media/image9.png" Id="imgId128168097"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f2d27a63f50841bc" /><Relationship Type="http://schemas.openxmlformats.org/officeDocument/2006/relationships/slideLayout" Target="/ppt/slideLayouts/slideLayout8.xml" Id="R633daf1534664b27" /><Relationship Type="http://schemas.openxmlformats.org/officeDocument/2006/relationships/hyperlink" Target="https://app.powerbi.com/groups/me/reports/fcaf1dad-66b8-443b-ac51-5b34f2a2a9dc/?pbi_source=PowerPoint" TargetMode="External" Id="RelId6" /><Relationship Type="http://schemas.openxmlformats.org/officeDocument/2006/relationships/image" Target="/ppt/media/imagea.png" Id="imgId128168098"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AW-Report-Final</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2/16/2026 8:28:03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1/23/2026 6:14:38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image ,YOY Revenue Growth ,donutChart ,shape ,shape ,shape ,Top 5 Customers By Revenue ,shape ,map ,shape ,pivotTable ,shape ,Revenue Vs Target ,Order Qty Vs Target ,shape ,shape ,slicer ,slicer ,shape ,ScrollingTextVisual1448795304508 ,shape ,actionButton ,textbox.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2816809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FINAL Report - Top Line Report</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Monthly Revenue ,shape ,Monthly Return Qty ,Revenue Vs. Target ,shape ,shape ,Order Qty Vs. Target ,shape ,Order Qty Vs. Target ,shape ,actionButton ,cardVisual ,shape ,slicer.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2816809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Product Detail</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licer ,shape ,textbox ,shape ,map ,Bottom 5 Customer by Revenue ,shape ,Top 5 Customer by Revenue ,shape ,Sum of OrderQuantity by Subcategory.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2816809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NLQ</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keyDriversVisual.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2816809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KI</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keyDriversVisual.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2816809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KI 2</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decompositionTreeVisual.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2816809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DT</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Revenue by Category for 2017 ,slicer.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12816809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1</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